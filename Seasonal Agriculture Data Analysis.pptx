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36"/>
  </p:notesMasterIdLst>
  <p:handoutMasterIdLst>
    <p:handoutMasterId r:id="rId37"/>
  </p:handoutMasterIdLst>
  <p:sldIdLst>
    <p:sldId id="338" r:id="rId5"/>
    <p:sldId id="327" r:id="rId6"/>
    <p:sldId id="315" r:id="rId7"/>
    <p:sldId id="340" r:id="rId8"/>
    <p:sldId id="341" r:id="rId9"/>
    <p:sldId id="329" r:id="rId10"/>
    <p:sldId id="302" r:id="rId11"/>
    <p:sldId id="339" r:id="rId12"/>
    <p:sldId id="380" r:id="rId13"/>
    <p:sldId id="382" r:id="rId14"/>
    <p:sldId id="385" r:id="rId15"/>
    <p:sldId id="381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6" r:id="rId30"/>
    <p:sldId id="387" r:id="rId31"/>
    <p:sldId id="353" r:id="rId32"/>
    <p:sldId id="304" r:id="rId33"/>
    <p:sldId id="352" r:id="rId34"/>
    <p:sldId id="35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619" y="5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facspu2004/VOIS-Major-Project--Agriculture-Analysis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ithub.com/Rifacspu2004/VOIS-Major-Project--Agriculture-Analysi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26173" y="6228697"/>
            <a:ext cx="3647223" cy="861497"/>
          </a:xfrm>
        </p:spPr>
        <p:txBody>
          <a:bodyPr/>
          <a:lstStyle/>
          <a:p>
            <a:pPr algn="r"/>
            <a:r>
              <a:rPr lang="en-US" sz="2200" dirty="0"/>
              <a:t>VOIS DIY MAJOR PROJECT</a:t>
            </a:r>
            <a:endParaRPr lang="en-IN" b="0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ECAE8-8968-5C06-A498-0059B0F4C273}"/>
              </a:ext>
            </a:extLst>
          </p:cNvPr>
          <p:cNvSpPr txBox="1"/>
          <p:nvPr/>
        </p:nvSpPr>
        <p:spPr>
          <a:xfrm>
            <a:off x="1134168" y="2656069"/>
            <a:ext cx="872582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SEASONAL AGRICULTURE PERFORMANCE INTELLIGENCE</a:t>
            </a:r>
          </a:p>
          <a:p>
            <a:endParaRPr lang="en-IN" sz="3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4EF70-9127-BA0C-2794-9523451D309A}"/>
              </a:ext>
            </a:extLst>
          </p:cNvPr>
          <p:cNvSpPr txBox="1"/>
          <p:nvPr/>
        </p:nvSpPr>
        <p:spPr>
          <a:xfrm>
            <a:off x="2457849" y="4099432"/>
            <a:ext cx="8123435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AICTE Student id   : </a:t>
            </a:r>
            <a:r>
              <a:rPr lang="en-IN" sz="2400" dirty="0"/>
              <a:t>STU6a69e81ac4abc1785325594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C07F86-AA91-C50B-0B19-C646F4B6CA08}"/>
              </a:ext>
            </a:extLst>
          </p:cNvPr>
          <p:cNvSpPr txBox="1"/>
          <p:nvPr/>
        </p:nvSpPr>
        <p:spPr>
          <a:xfrm>
            <a:off x="2673510" y="4578081"/>
            <a:ext cx="8123435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              Name   : Mohamed </a:t>
            </a:r>
            <a:r>
              <a:rPr lang="en-US" sz="2400" b="1" dirty="0" err="1"/>
              <a:t>Rifath</a:t>
            </a:r>
            <a:r>
              <a:rPr lang="en-US" sz="2400" b="1" dirty="0"/>
              <a:t> A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30E16-FD28-DF63-CFCC-928A6073474F}"/>
              </a:ext>
            </a:extLst>
          </p:cNvPr>
          <p:cNvSpPr txBox="1"/>
          <p:nvPr/>
        </p:nvSpPr>
        <p:spPr>
          <a:xfrm>
            <a:off x="4552632" y="5065691"/>
            <a:ext cx="8123435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College : </a:t>
            </a:r>
            <a:r>
              <a:rPr lang="en-IN" sz="2400" b="1" dirty="0"/>
              <a:t>Pondicherry University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302" y="2108823"/>
            <a:ext cx="7435776" cy="5098211"/>
          </a:xfrm>
        </p:spPr>
        <p:txBody>
          <a:bodyPr>
            <a:normAutofit/>
          </a:bodyPr>
          <a:lstStyle/>
          <a:p>
            <a:r>
              <a:rPr lang="en-IN" b="1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r>
              <a:rPr lang="en-IN" b="1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r>
              <a:rPr lang="en-IN" b="1" dirty="0"/>
              <a:t>The problem is to </a:t>
            </a:r>
            <a:r>
              <a:rPr lang="en-IN" b="1" dirty="0" err="1"/>
              <a:t>analyze</a:t>
            </a:r>
            <a:r>
              <a:rPr lang="en-IN" b="1" dirty="0"/>
              <a:t> the given agricultural dataset and investigate seasonal differences in agricultural performance by identifying meaningful patterns, trends, relationships and variations within the available data. 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endParaRPr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171693"/>
            <a:ext cx="6995604" cy="790111"/>
          </a:xfrm>
        </p:spPr>
        <p:txBody>
          <a:bodyPr>
            <a:normAutofit/>
          </a:bodyPr>
          <a:lstStyle/>
          <a:p>
            <a:r>
              <a:rPr sz="2600" b="1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424" y="1289998"/>
            <a:ext cx="6276109" cy="830997"/>
          </a:xfrm>
        </p:spPr>
        <p:txBody>
          <a:bodyPr>
            <a:normAutofit/>
          </a:bodyPr>
          <a:lstStyle/>
          <a:p>
            <a:r>
              <a:rPr sz="2400" b="1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F8448A-3257-78F2-A13A-591FD420FFFD}"/>
              </a:ext>
            </a:extLst>
          </p:cNvPr>
          <p:cNvSpPr txBox="1"/>
          <p:nvPr/>
        </p:nvSpPr>
        <p:spPr>
          <a:xfrm>
            <a:off x="675957" y="2276476"/>
            <a:ext cx="84963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Analyse agricultural data across different </a:t>
            </a:r>
            <a:r>
              <a:rPr lang="en-IN" sz="2000" b="1" dirty="0"/>
              <a:t>seasons, regions and farming conditions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Examine variations in </a:t>
            </a:r>
            <a:r>
              <a:rPr lang="en-IN" sz="2000" b="1" dirty="0"/>
              <a:t>crop production and agricultural performance</a:t>
            </a:r>
            <a:r>
              <a:rPr lang="en-IN" sz="2000" dirty="0"/>
              <a:t> across seasons.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Study the influence of </a:t>
            </a:r>
            <a:r>
              <a:rPr lang="en-IN" sz="2000" b="1" dirty="0"/>
              <a:t>environmental conditions, soil characteristics and farming practices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Compare </a:t>
            </a:r>
            <a:r>
              <a:rPr lang="en-IN" sz="2000" b="1" dirty="0"/>
              <a:t>resource usage, economic outcomes and agricultural performance</a:t>
            </a:r>
            <a:r>
              <a:rPr lang="en-IN" sz="2000" dirty="0"/>
              <a:t> across seasonal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Identify meaningful </a:t>
            </a:r>
            <a:r>
              <a:rPr lang="en-IN" sz="2000" b="1" dirty="0"/>
              <a:t>patterns, trends and relationships</a:t>
            </a:r>
            <a:r>
              <a:rPr lang="en-IN" sz="2000" dirty="0"/>
              <a:t> to support evidence-based agricultural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Performance Insights:</a:t>
            </a:r>
            <a:r>
              <a:rPr lang="en-IN" sz="2000" dirty="0"/>
              <a:t> Generate data-driven insights to understand agricultural performance and support better seasonal planning and decision-making.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27" y="1029085"/>
            <a:ext cx="10046070" cy="802641"/>
          </a:xfrm>
        </p:spPr>
        <p:txBody>
          <a:bodyPr>
            <a:normAutofit/>
          </a:bodyPr>
          <a:lstStyle/>
          <a:p>
            <a:r>
              <a:rPr sz="3200" b="1" dirty="0"/>
              <a:t>Objectives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4EA63E-6B57-20B6-DB49-B2DA5547F253}"/>
              </a:ext>
            </a:extLst>
          </p:cNvPr>
          <p:cNvSpPr txBox="1"/>
          <p:nvPr/>
        </p:nvSpPr>
        <p:spPr>
          <a:xfrm>
            <a:off x="538945" y="2052497"/>
            <a:ext cx="8698866" cy="511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Cleaning &amp; Preparation:</a:t>
            </a:r>
            <a:r>
              <a:rPr lang="en-IN" sz="2000" dirty="0"/>
              <a:t> Prepare accurate and consistent agricultural data for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Seasonal Performance Analysis:</a:t>
            </a:r>
            <a:r>
              <a:rPr lang="en-IN" sz="2000" dirty="0"/>
              <a:t> Compare agricultural performance across different seasons.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Crop-wise Analysis:</a:t>
            </a:r>
            <a:r>
              <a:rPr lang="en-IN" sz="2000" dirty="0"/>
              <a:t> Analyse differences in yield, production and profitability across crops.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Environmental &amp; Soil Analysis:</a:t>
            </a:r>
            <a:r>
              <a:rPr lang="en-IN" sz="2000" dirty="0"/>
              <a:t> Study the relationship of environmental and soil conditions with agricultural outcomes.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Resource &amp; Irrigation Analysis:</a:t>
            </a:r>
            <a:r>
              <a:rPr lang="en-IN" sz="2000" dirty="0"/>
              <a:t> Examine fertilizer, pesticide, irrigation, water usage and water efficiency.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Economic &amp; Risk Analysis:</a:t>
            </a:r>
            <a:r>
              <a:rPr lang="en-IN" sz="2000" dirty="0"/>
              <a:t> Compare revenue, cost, profit and disease/pest risk across relevant groups.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Insights &amp; Recommendations:</a:t>
            </a:r>
            <a:r>
              <a:rPr lang="en-IN" sz="2000" dirty="0"/>
              <a:t> Identify meaningful patterns and develop evidence-based recommendations for seasonal agricultural planning.</a:t>
            </a: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28963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886" y="1205627"/>
            <a:ext cx="10046070" cy="802641"/>
          </a:xfrm>
        </p:spPr>
        <p:txBody>
          <a:bodyPr>
            <a:normAutofit/>
          </a:bodyPr>
          <a:lstStyle/>
          <a:p>
            <a:r>
              <a:rPr sz="3200" b="1" dirty="0"/>
              <a:t>Methodology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F5D9948-10DF-5F55-202E-027257FCCF13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65825" y="2433291"/>
            <a:ext cx="8729933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Data Collection &amp; Inspection</a:t>
            </a:r>
            <a:r>
              <a:rPr lang="en-IN" sz="1800" dirty="0"/>
              <a:t>: Load and understand the agricultural dataset and its variables.</a:t>
            </a:r>
          </a:p>
          <a:p>
            <a:r>
              <a:rPr lang="en-IN" sz="1800" b="1" dirty="0"/>
              <a:t>Data Cleaning:</a:t>
            </a:r>
            <a:r>
              <a:rPr lang="en-IN" sz="1800" dirty="0"/>
              <a:t> Handle missing values, duplicates and inconsistent data.</a:t>
            </a:r>
          </a:p>
          <a:p>
            <a:r>
              <a:rPr lang="en-IN" sz="1800" b="1" dirty="0"/>
              <a:t>Exploratory Data Analysis: </a:t>
            </a:r>
            <a:r>
              <a:rPr lang="en-IN" sz="1800" dirty="0"/>
              <a:t>Examine distributions and key agricultural patterns.</a:t>
            </a:r>
          </a:p>
          <a:p>
            <a:r>
              <a:rPr lang="en-IN" sz="1800" b="1" dirty="0"/>
              <a:t>Seasonal &amp; Crop Comparison: </a:t>
            </a:r>
            <a:r>
              <a:rPr lang="en-IN" sz="1800" dirty="0"/>
              <a:t>Compare performance across seasons and crops.</a:t>
            </a:r>
          </a:p>
          <a:p>
            <a:r>
              <a:rPr lang="en-IN" sz="1800" b="1" dirty="0"/>
              <a:t>Environmental &amp; Resource Analysis: </a:t>
            </a:r>
            <a:r>
              <a:rPr lang="en-IN" sz="1800" dirty="0"/>
              <a:t>Study soil, weather, irrigation and resource usage.</a:t>
            </a:r>
          </a:p>
          <a:p>
            <a:r>
              <a:rPr lang="en-IN" sz="1800" b="1" dirty="0"/>
              <a:t>Economic &amp; Risk Analysis:</a:t>
            </a:r>
            <a:r>
              <a:rPr lang="en-IN" sz="1800" dirty="0"/>
              <a:t> Analyse cost, revenue, profit and disease/pest risk.</a:t>
            </a:r>
          </a:p>
          <a:p>
            <a:r>
              <a:rPr lang="en-IN" sz="1800" b="1" dirty="0"/>
              <a:t>Visualization &amp; Insights:</a:t>
            </a:r>
            <a:r>
              <a:rPr lang="en-IN" sz="1800" dirty="0"/>
              <a:t> Use suitable charts to identify patterns and support evidence-based conclusions.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9860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14" y="1000664"/>
            <a:ext cx="10178739" cy="1019528"/>
          </a:xfrm>
        </p:spPr>
        <p:txBody>
          <a:bodyPr>
            <a:normAutofit/>
          </a:bodyPr>
          <a:lstStyle/>
          <a:p>
            <a:r>
              <a:rPr sz="2800" b="1" dirty="0"/>
              <a:t>WHO ARE THE END USERS?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A850EC-5FBC-41F4-4C67-C55FBACDF894}"/>
              </a:ext>
            </a:extLst>
          </p:cNvPr>
          <p:cNvSpPr txBox="1"/>
          <p:nvPr/>
        </p:nvSpPr>
        <p:spPr>
          <a:xfrm>
            <a:off x="491025" y="2080577"/>
            <a:ext cx="823675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Farmers:</a:t>
            </a:r>
            <a:r>
              <a:rPr lang="en-IN" sz="2000" dirty="0"/>
              <a:t> Use seasonal insights to support crop and resource planning.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Farm Managers:</a:t>
            </a:r>
            <a:r>
              <a:rPr lang="en-IN" sz="2000" dirty="0"/>
              <a:t> Monitor yield, production, irrigation and input usage.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Agricultural Planners:</a:t>
            </a:r>
            <a:r>
              <a:rPr lang="en-IN" sz="2000" dirty="0"/>
              <a:t> Compare seasonal performance and identify important trends.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Agricultural Analysts:</a:t>
            </a:r>
            <a:r>
              <a:rPr lang="en-IN" sz="2000" dirty="0"/>
              <a:t> Analyse relationships between environmental conditions and agricultural outcomes.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Agricultural Researchers:</a:t>
            </a:r>
            <a:r>
              <a:rPr lang="en-IN" sz="2000" dirty="0"/>
              <a:t> Study seasonal variations, crop performance and farming practices.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Agribusiness Stakeholders:</a:t>
            </a:r>
            <a:r>
              <a:rPr lang="en-IN" sz="2000" dirty="0"/>
              <a:t> Support decisions related to crops, inputs, water and economic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Policy &amp; Development Stakeholders:</a:t>
            </a:r>
            <a:r>
              <a:rPr lang="en-IN" sz="2000" dirty="0"/>
              <a:t> Use evidence-based insights for agricultural planning and resource management.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301" y="672299"/>
            <a:ext cx="5306291" cy="847817"/>
          </a:xfrm>
        </p:spPr>
        <p:txBody>
          <a:bodyPr>
            <a:normAutofit/>
          </a:bodyPr>
          <a:lstStyle/>
          <a:p>
            <a:r>
              <a:rPr sz="2800" b="1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C24446-0380-4C8A-7A29-4B771214637B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778000" y="1797565"/>
            <a:ext cx="8394700" cy="4270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700"/>
              </a:spcAft>
              <a:buClrTx/>
              <a:buSzTx/>
            </a:pPr>
            <a:r>
              <a:rPr sz="1900" dirty="0"/>
              <a:t>• </a:t>
            </a:r>
            <a:r>
              <a:rPr sz="1900" b="1" dirty="0"/>
              <a:t>Python: </a:t>
            </a:r>
            <a:r>
              <a:rPr sz="1900" dirty="0"/>
              <a:t>Primary programming language for data analysis.</a:t>
            </a:r>
          </a:p>
          <a:p>
            <a:pPr algn="l">
              <a:spcAft>
                <a:spcPts val="700"/>
              </a:spcAft>
            </a:pPr>
            <a:r>
              <a:rPr sz="1900" dirty="0"/>
              <a:t>• </a:t>
            </a:r>
            <a:r>
              <a:rPr sz="1900" b="1" dirty="0"/>
              <a:t>Pandas: </a:t>
            </a:r>
            <a:r>
              <a:rPr sz="1900" dirty="0"/>
              <a:t>Data loading, cleaning, transformation and EDA.</a:t>
            </a:r>
          </a:p>
          <a:p>
            <a:pPr algn="l">
              <a:spcAft>
                <a:spcPts val="700"/>
              </a:spcAft>
            </a:pPr>
            <a:r>
              <a:rPr sz="1900" dirty="0"/>
              <a:t>• </a:t>
            </a:r>
            <a:r>
              <a:rPr sz="1900" b="1" dirty="0"/>
              <a:t>NumPy: </a:t>
            </a:r>
            <a:r>
              <a:rPr sz="1900" dirty="0"/>
              <a:t>Numerical calculations and feature engineering.</a:t>
            </a:r>
          </a:p>
          <a:p>
            <a:pPr algn="l">
              <a:spcAft>
                <a:spcPts val="700"/>
              </a:spcAft>
            </a:pPr>
            <a:r>
              <a:rPr sz="1900" dirty="0"/>
              <a:t>• </a:t>
            </a:r>
            <a:r>
              <a:rPr sz="1900" b="1" dirty="0"/>
              <a:t>Matplotlib: </a:t>
            </a:r>
            <a:r>
              <a:rPr sz="1900" dirty="0"/>
              <a:t>Charts and visual representations.</a:t>
            </a:r>
          </a:p>
          <a:p>
            <a:pPr algn="l">
              <a:spcAft>
                <a:spcPts val="700"/>
              </a:spcAft>
            </a:pPr>
            <a:r>
              <a:rPr sz="1900" dirty="0"/>
              <a:t>• </a:t>
            </a:r>
            <a:r>
              <a:rPr sz="1900" b="1" dirty="0"/>
              <a:t>Seaborn: </a:t>
            </a:r>
            <a:r>
              <a:rPr sz="1900" dirty="0"/>
              <a:t>Statistical visualization and relationship analysis.</a:t>
            </a:r>
          </a:p>
          <a:p>
            <a:pPr algn="l">
              <a:spcAft>
                <a:spcPts val="700"/>
              </a:spcAft>
            </a:pPr>
            <a:r>
              <a:rPr sz="1900" dirty="0"/>
              <a:t>• </a:t>
            </a:r>
            <a:r>
              <a:rPr sz="1900" b="1" dirty="0"/>
              <a:t>Jupyter Notebook / Google </a:t>
            </a:r>
            <a:r>
              <a:rPr sz="1900" b="1" dirty="0" err="1"/>
              <a:t>Colab</a:t>
            </a:r>
            <a:r>
              <a:rPr sz="1900" b="1" dirty="0"/>
              <a:t>: </a:t>
            </a:r>
            <a:r>
              <a:rPr sz="1900" dirty="0"/>
              <a:t>Execution and documentation.</a:t>
            </a:r>
          </a:p>
          <a:p>
            <a:pPr algn="l">
              <a:spcAft>
                <a:spcPts val="700"/>
              </a:spcAft>
            </a:pPr>
            <a:r>
              <a:rPr sz="1900" dirty="0"/>
              <a:t>• </a:t>
            </a:r>
            <a:r>
              <a:rPr sz="1900" b="1" dirty="0"/>
              <a:t>GitHub: </a:t>
            </a:r>
            <a:r>
              <a:rPr sz="1900" dirty="0"/>
              <a:t>Project notebook and code repository.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25AE19-E61F-0CC7-2180-5B77DC08071A}"/>
              </a:ext>
            </a:extLst>
          </p:cNvPr>
          <p:cNvSpPr txBox="1"/>
          <p:nvPr/>
        </p:nvSpPr>
        <p:spPr>
          <a:xfrm>
            <a:off x="633413" y="31316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RESULTS (Code)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88B55-A79A-D6F2-4C5A-F4A65C0D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75" y="2304414"/>
            <a:ext cx="4397121" cy="27586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C0F436-3671-0FCB-C5B4-FC53ECADF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802" y="954380"/>
            <a:ext cx="5471149" cy="25395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7A7B83-BB16-CC28-3B4A-36CD670D8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995" y="3875776"/>
            <a:ext cx="3871295" cy="279678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037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1FD7-59B0-63BA-09AE-ADB66C54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1CD6E0-2439-139D-1187-AC96FEC71796}"/>
              </a:ext>
            </a:extLst>
          </p:cNvPr>
          <p:cNvSpPr txBox="1"/>
          <p:nvPr/>
        </p:nvSpPr>
        <p:spPr>
          <a:xfrm>
            <a:off x="633413" y="31316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RESULTS (Code)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F2249-CA2D-E90F-067E-33CACFE93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4" y="1562288"/>
            <a:ext cx="3757432" cy="219486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A7AD2F-FA39-269F-1CAC-77203D809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605" y="1562288"/>
            <a:ext cx="3071126" cy="31016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A1FD88-02CD-1963-AB74-81DD0C07B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789" y="728662"/>
            <a:ext cx="3261643" cy="57612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349096-605A-E9AC-D91E-0528B2260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57" y="4175278"/>
            <a:ext cx="3520745" cy="14174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BB0550-022E-8599-32E0-FAA6A4EAC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502" y="4860670"/>
            <a:ext cx="3109229" cy="168416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5981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CAFC-21FB-C61B-43A3-A20EDC19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6616C6-F29E-07B4-0424-EA6655AD8556}"/>
              </a:ext>
            </a:extLst>
          </p:cNvPr>
          <p:cNvSpPr txBox="1"/>
          <p:nvPr/>
        </p:nvSpPr>
        <p:spPr>
          <a:xfrm>
            <a:off x="633413" y="31316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RESULTS (Code)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4AA961-06F9-0F64-3D3B-C41585F3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15" y="817395"/>
            <a:ext cx="3475021" cy="565453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B57D9-1915-FE34-633C-CF13C88F8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1392622"/>
            <a:ext cx="3330229" cy="260626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F11225-BBBE-B016-A7E1-7A0C8EFBB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889" y="1392622"/>
            <a:ext cx="3901778" cy="204233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730116-62BF-6B98-A6FA-FA3DC94E3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440" y="3683420"/>
            <a:ext cx="3642676" cy="248433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0897B5-B593-D579-9C4C-7908AF2EE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22" y="4148009"/>
            <a:ext cx="2888610" cy="21617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802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3FDA-B779-9C4D-5DDC-BA898FED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CE0CFB-DBBB-0F05-BB0D-1FD5868B9859}"/>
              </a:ext>
            </a:extLst>
          </p:cNvPr>
          <p:cNvSpPr txBox="1"/>
          <p:nvPr/>
        </p:nvSpPr>
        <p:spPr>
          <a:xfrm>
            <a:off x="633413" y="31316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RESULTS (Code)</a:t>
            </a:r>
            <a:endParaRPr lang="en-IN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683BDA-E97E-8CC5-8A6C-24A9D32C4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70" y="2350734"/>
            <a:ext cx="3482642" cy="248433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1DF45-2A44-B4FC-5ED8-F42A7DD4C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661" y="1548478"/>
            <a:ext cx="3520745" cy="14174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675149-3743-FFE6-805B-D1B307B53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079" y="3429000"/>
            <a:ext cx="3055885" cy="21109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1B8564-644B-B905-1E2A-90F15C657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376" y="1421014"/>
            <a:ext cx="3558848" cy="43437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482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770B-EC51-C19F-2145-96590C67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F3F2F4-9379-B5F6-3772-957D8792805B}"/>
              </a:ext>
            </a:extLst>
          </p:cNvPr>
          <p:cNvSpPr txBox="1"/>
          <p:nvPr/>
        </p:nvSpPr>
        <p:spPr>
          <a:xfrm>
            <a:off x="633413" y="31316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RESULTS (Code)</a:t>
            </a:r>
            <a:endParaRPr lang="en-IN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DF4837-0D62-5CE8-3377-1C2094B33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57" y="2163390"/>
            <a:ext cx="3543607" cy="26519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78DF22-2364-95F6-1783-21BF6DD86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161" y="2163390"/>
            <a:ext cx="4724809" cy="30635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917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24E1-E902-E8C6-A586-D6C8685F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48BEDC-200F-43C6-A22D-516A26183B83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E0717-C1D1-B779-8AD7-BD720CB35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830" y="1295215"/>
            <a:ext cx="6972904" cy="42675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07A4B7-B7CE-A341-BF27-9E823EC8517B}"/>
              </a:ext>
            </a:extLst>
          </p:cNvPr>
          <p:cNvSpPr txBox="1"/>
          <p:nvPr/>
        </p:nvSpPr>
        <p:spPr>
          <a:xfrm>
            <a:off x="2483688" y="5645187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Shows how the agricultural records are distributed across seasons.</a:t>
            </a:r>
          </a:p>
        </p:txBody>
      </p:sp>
    </p:spTree>
    <p:extLst>
      <p:ext uri="{BB962C8B-B14F-4D97-AF65-F5344CB8AC3E}">
        <p14:creationId xmlns:p14="http://schemas.microsoft.com/office/powerpoint/2010/main" val="300636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BBD1E-91B5-0612-B2DA-3BC7B5A6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84E375-79BF-5AF4-1E1D-4BC375457873}"/>
              </a:ext>
            </a:extLst>
          </p:cNvPr>
          <p:cNvSpPr txBox="1"/>
          <p:nvPr/>
        </p:nvSpPr>
        <p:spPr>
          <a:xfrm>
            <a:off x="566378" y="60385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B36B1-D36D-7EB8-BEA1-BFD13054F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7" r="4598"/>
          <a:stretch>
            <a:fillRect/>
          </a:stretch>
        </p:blipFill>
        <p:spPr>
          <a:xfrm>
            <a:off x="1463526" y="1171436"/>
            <a:ext cx="8557404" cy="457551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1B26FC-1277-0BC5-5DE7-17FAD6EEF522}"/>
              </a:ext>
            </a:extLst>
          </p:cNvPr>
          <p:cNvSpPr txBox="1"/>
          <p:nvPr/>
        </p:nvSpPr>
        <p:spPr>
          <a:xfrm>
            <a:off x="2982582" y="6027002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Compares yield and profitability across Kharif, Rabi and Zaid.</a:t>
            </a:r>
          </a:p>
        </p:txBody>
      </p:sp>
    </p:spTree>
    <p:extLst>
      <p:ext uri="{BB962C8B-B14F-4D97-AF65-F5344CB8AC3E}">
        <p14:creationId xmlns:p14="http://schemas.microsoft.com/office/powerpoint/2010/main" val="84894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0B57-DA67-BBB6-D4F3-F2A0C07F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9F20B2-995E-8336-4148-5C24ECC1D97F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F9A7E-2C2E-18F1-D13C-2FD743F8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1" r="6918"/>
          <a:stretch>
            <a:fillRect/>
          </a:stretch>
        </p:blipFill>
        <p:spPr>
          <a:xfrm>
            <a:off x="1449237" y="1218880"/>
            <a:ext cx="7893170" cy="45755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F52E1E-38B9-D90E-86DD-F66B92AF54EA}"/>
              </a:ext>
            </a:extLst>
          </p:cNvPr>
          <p:cNvSpPr txBox="1"/>
          <p:nvPr/>
        </p:nvSpPr>
        <p:spPr>
          <a:xfrm>
            <a:off x="2344228" y="5964362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Identifies crops with higher and lower average yield.</a:t>
            </a:r>
          </a:p>
        </p:txBody>
      </p:sp>
    </p:spTree>
    <p:extLst>
      <p:ext uri="{BB962C8B-B14F-4D97-AF65-F5344CB8AC3E}">
        <p14:creationId xmlns:p14="http://schemas.microsoft.com/office/powerpoint/2010/main" val="33194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6939-6F8F-7D94-8F09-30EFA79B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1DD52D-6DDC-0762-E789-770C10174E6A}"/>
              </a:ext>
            </a:extLst>
          </p:cNvPr>
          <p:cNvSpPr txBox="1"/>
          <p:nvPr/>
        </p:nvSpPr>
        <p:spPr>
          <a:xfrm>
            <a:off x="445608" y="364563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85B83-8AF3-B208-4926-9A781879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89" y="1867925"/>
            <a:ext cx="10630821" cy="288061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BB1DB7-A26F-6786-8D75-8D9830BC6213}"/>
              </a:ext>
            </a:extLst>
          </p:cNvPr>
          <p:cNvSpPr txBox="1"/>
          <p:nvPr/>
        </p:nvSpPr>
        <p:spPr>
          <a:xfrm>
            <a:off x="2585768" y="5223619"/>
            <a:ext cx="6506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Examines how environmental conditions are associated with agricultural yield.</a:t>
            </a:r>
          </a:p>
        </p:txBody>
      </p:sp>
    </p:spTree>
    <p:extLst>
      <p:ext uri="{BB962C8B-B14F-4D97-AF65-F5344CB8AC3E}">
        <p14:creationId xmlns:p14="http://schemas.microsoft.com/office/powerpoint/2010/main" val="262026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7C18-EB64-3524-E8A1-AAF19265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CECF5-F3B7-149F-E44E-E761837BDDB2}"/>
              </a:ext>
            </a:extLst>
          </p:cNvPr>
          <p:cNvSpPr txBox="1"/>
          <p:nvPr/>
        </p:nvSpPr>
        <p:spPr>
          <a:xfrm>
            <a:off x="514621" y="269672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5EDCA0-29D2-EAE1-5B35-7FB714712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41" y="1655879"/>
            <a:ext cx="10592718" cy="28729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2E432-42B7-7987-5AA5-DE4D8AD5FBE2}"/>
              </a:ext>
            </a:extLst>
          </p:cNvPr>
          <p:cNvSpPr txBox="1"/>
          <p:nvPr/>
        </p:nvSpPr>
        <p:spPr>
          <a:xfrm>
            <a:off x="2966768" y="5067218"/>
            <a:ext cx="61031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Studies the relationship between soil/input conditions and crop yield.</a:t>
            </a:r>
          </a:p>
        </p:txBody>
      </p:sp>
    </p:spTree>
    <p:extLst>
      <p:ext uri="{BB962C8B-B14F-4D97-AF65-F5344CB8AC3E}">
        <p14:creationId xmlns:p14="http://schemas.microsoft.com/office/powerpoint/2010/main" val="31917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18E50-9409-3131-34AE-5EF7B6BEE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420CDE-ABBB-554C-F36C-D385C97C09AE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262C0-8B6B-B2A5-E4C0-D688054F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76" y="1325697"/>
            <a:ext cx="8245555" cy="42066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4661CB-AEB0-2D33-A1C4-FD03622943EF}"/>
              </a:ext>
            </a:extLst>
          </p:cNvPr>
          <p:cNvSpPr txBox="1"/>
          <p:nvPr/>
        </p:nvSpPr>
        <p:spPr>
          <a:xfrm>
            <a:off x="2646152" y="5713458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Compares irrigation methods based on water efficiency.</a:t>
            </a:r>
          </a:p>
        </p:txBody>
      </p:sp>
    </p:spTree>
    <p:extLst>
      <p:ext uri="{BB962C8B-B14F-4D97-AF65-F5344CB8AC3E}">
        <p14:creationId xmlns:p14="http://schemas.microsoft.com/office/powerpoint/2010/main" val="2050220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CEE3-2220-79FE-8632-73381FA1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B9F627-DF29-99E1-C7A6-64F0D6133539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0E0DF3-DDA3-09A0-DBE2-D8842D14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469" y="1272942"/>
            <a:ext cx="6652837" cy="42447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B554E1-8AD1-CA87-DD67-B2D8AE741DC3}"/>
              </a:ext>
            </a:extLst>
          </p:cNvPr>
          <p:cNvSpPr txBox="1"/>
          <p:nvPr/>
        </p:nvSpPr>
        <p:spPr>
          <a:xfrm>
            <a:off x="2629118" y="5741681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Shows how economic performance varies by season.</a:t>
            </a:r>
          </a:p>
        </p:txBody>
      </p:sp>
    </p:spTree>
    <p:extLst>
      <p:ext uri="{BB962C8B-B14F-4D97-AF65-F5344CB8AC3E}">
        <p14:creationId xmlns:p14="http://schemas.microsoft.com/office/powerpoint/2010/main" val="3469665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58A7-CF8E-B168-F84D-A871C1FF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4804FA-E5FE-9CE4-BCB1-D2884ED5E81C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EE1CDC-8AA3-E5C5-4428-120CE0C4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78" y="1570722"/>
            <a:ext cx="10630821" cy="34674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DA995-0EDC-DA96-37AE-05B6622D8EEB}"/>
              </a:ext>
            </a:extLst>
          </p:cNvPr>
          <p:cNvSpPr txBox="1"/>
          <p:nvPr/>
        </p:nvSpPr>
        <p:spPr>
          <a:xfrm>
            <a:off x="3139296" y="5361108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Examines whether agricultural risk levels are associated with yield and profit.</a:t>
            </a:r>
          </a:p>
        </p:txBody>
      </p:sp>
    </p:spTree>
    <p:extLst>
      <p:ext uri="{BB962C8B-B14F-4D97-AF65-F5344CB8AC3E}">
        <p14:creationId xmlns:p14="http://schemas.microsoft.com/office/powerpoint/2010/main" val="3142028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13F3-502F-CB39-3F67-FD807BC0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C6BFA-9B35-A46A-36D9-1D402804999D}"/>
              </a:ext>
            </a:extLst>
          </p:cNvPr>
          <p:cNvSpPr txBox="1"/>
          <p:nvPr/>
        </p:nvSpPr>
        <p:spPr>
          <a:xfrm>
            <a:off x="359345" y="66945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8E0CD-CA87-BED9-6036-17CB995EE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385" y="1020871"/>
            <a:ext cx="7666384" cy="48162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206EFF-6724-3570-DC54-F93697C50D79}"/>
              </a:ext>
            </a:extLst>
          </p:cNvPr>
          <p:cNvSpPr txBox="1"/>
          <p:nvPr/>
        </p:nvSpPr>
        <p:spPr>
          <a:xfrm>
            <a:off x="2773581" y="5960057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Examines whether farm area and seasonal conditions show different yield patterns.</a:t>
            </a:r>
          </a:p>
        </p:txBody>
      </p:sp>
    </p:spTree>
    <p:extLst>
      <p:ext uri="{BB962C8B-B14F-4D97-AF65-F5344CB8AC3E}">
        <p14:creationId xmlns:p14="http://schemas.microsoft.com/office/powerpoint/2010/main" val="1864548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92EAF-586A-CC24-1B5A-E29B5DF9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12FD7D-D4DB-CA4E-3E1C-59683F55C4EA}"/>
              </a:ext>
            </a:extLst>
          </p:cNvPr>
          <p:cNvSpPr txBox="1"/>
          <p:nvPr/>
        </p:nvSpPr>
        <p:spPr>
          <a:xfrm>
            <a:off x="333465" y="0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581045-6F7D-13ED-67C1-2B4734A95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94" y="891320"/>
            <a:ext cx="8626588" cy="50753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41B6C2-721F-8D7C-067A-C8A1E78AF741}"/>
              </a:ext>
            </a:extLst>
          </p:cNvPr>
          <p:cNvSpPr txBox="1"/>
          <p:nvPr/>
        </p:nvSpPr>
        <p:spPr>
          <a:xfrm>
            <a:off x="2596551" y="6096621"/>
            <a:ext cx="6083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Shows which crop-season combinations have stronger observed yield.</a:t>
            </a:r>
          </a:p>
        </p:txBody>
      </p:sp>
    </p:spTree>
    <p:extLst>
      <p:ext uri="{BB962C8B-B14F-4D97-AF65-F5344CB8AC3E}">
        <p14:creationId xmlns:p14="http://schemas.microsoft.com/office/powerpoint/2010/main" val="42023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06DF-959E-9E8B-88BC-17613E69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35DA33-8879-5C13-5D47-1EEEB01EE626}"/>
              </a:ext>
            </a:extLst>
          </p:cNvPr>
          <p:cNvSpPr txBox="1"/>
          <p:nvPr/>
        </p:nvSpPr>
        <p:spPr>
          <a:xfrm>
            <a:off x="316212" y="0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464EE-3BC5-854C-EBA9-EC5B48AF2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10" y="963716"/>
            <a:ext cx="8283658" cy="49305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167525-D8D7-D4F7-A865-28E4F9A681DB}"/>
              </a:ext>
            </a:extLst>
          </p:cNvPr>
          <p:cNvSpPr txBox="1"/>
          <p:nvPr/>
        </p:nvSpPr>
        <p:spPr>
          <a:xfrm>
            <a:off x="2628900" y="6027002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Identifies seasonal irrigation patterns and water-efficiency differences.</a:t>
            </a:r>
          </a:p>
        </p:txBody>
      </p:sp>
    </p:spTree>
    <p:extLst>
      <p:ext uri="{BB962C8B-B14F-4D97-AF65-F5344CB8AC3E}">
        <p14:creationId xmlns:p14="http://schemas.microsoft.com/office/powerpoint/2010/main" val="518197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9F72-C345-157A-B404-ACD6523E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EC7214-E9F2-48A0-A901-A4A7BFE8FA9D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4C788-C7F6-B696-5A8A-738650B1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385" y="1696542"/>
            <a:ext cx="5249489" cy="15872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E9498-98E3-19A1-D8DC-B532AC432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386" y="3678821"/>
            <a:ext cx="5249489" cy="17931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0030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68ED-D8F3-F640-7213-12D8EC55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8CDE7A-9525-14C0-9CFC-1BF60D4F42DA}"/>
              </a:ext>
            </a:extLst>
          </p:cNvPr>
          <p:cNvSpPr txBox="1"/>
          <p:nvPr/>
        </p:nvSpPr>
        <p:spPr>
          <a:xfrm>
            <a:off x="471488" y="217914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RESULTS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880D9-3BEE-A29C-2C98-A15A9B5B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957"/>
          <a:stretch>
            <a:fillRect/>
          </a:stretch>
        </p:blipFill>
        <p:spPr>
          <a:xfrm>
            <a:off x="2152737" y="3322987"/>
            <a:ext cx="5171091" cy="14948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C86CED-5365-CC36-202A-E426079A2870}"/>
              </a:ext>
            </a:extLst>
          </p:cNvPr>
          <p:cNvSpPr txBox="1"/>
          <p:nvPr/>
        </p:nvSpPr>
        <p:spPr>
          <a:xfrm>
            <a:off x="1786849" y="5284005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Produces the final evidence needed to identify the strongest seasonal agricultural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70E67-38E0-DC59-5079-9ECFD7F40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582" y="1687591"/>
            <a:ext cx="5733722" cy="12908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812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0164C-1061-46AE-BDA3-8D4B5E9A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41ADA4-8C91-3E8F-5A6B-305B70C96670}"/>
              </a:ext>
            </a:extLst>
          </p:cNvPr>
          <p:cNvSpPr txBox="1"/>
          <p:nvPr/>
        </p:nvSpPr>
        <p:spPr>
          <a:xfrm>
            <a:off x="1109843" y="271927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</a:t>
            </a:r>
            <a:r>
              <a:rPr lang="en-IN" sz="4000" dirty="0">
                <a:latin typeface="+mj-lt"/>
              </a:rPr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1C859-5B1E-2943-8C57-F24D5BC87545}"/>
              </a:ext>
            </a:extLst>
          </p:cNvPr>
          <p:cNvSpPr txBox="1"/>
          <p:nvPr/>
        </p:nvSpPr>
        <p:spPr>
          <a:xfrm>
            <a:off x="903615" y="1392582"/>
            <a:ext cx="811098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Predictive Yield Analysis</a:t>
            </a:r>
            <a:r>
              <a:rPr lang="en-IN" sz="2000" dirty="0"/>
              <a:t> – Develop machine learning models to predict crop yield under different seasonal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Crop Recommendation System</a:t>
            </a:r>
            <a:r>
              <a:rPr lang="en-IN" sz="2000" dirty="0"/>
              <a:t> – Recommend suitable crops based on soil, weather, season and resource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Weather-Based Decision Support</a:t>
            </a:r>
            <a:r>
              <a:rPr lang="en-IN" sz="2000" dirty="0"/>
              <a:t> – Integrate real-time weather data to improve seasonal farming decisions.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Smart Irrigation Optimization</a:t>
            </a:r>
            <a:r>
              <a:rPr lang="en-IN" sz="2000" dirty="0"/>
              <a:t> – Develop systems to recommend efficient irrigation methods and water usage.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Economic Forecasting</a:t>
            </a:r>
            <a:r>
              <a:rPr lang="en-IN" sz="2000" dirty="0"/>
              <a:t> – Predict future crop prices, revenue, costs and profitability using historical agricultural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Disease &amp; Pest Prediction</a:t>
            </a:r>
            <a:r>
              <a:rPr lang="en-IN" sz="2000" dirty="0"/>
              <a:t> – Use environmental and crop conditions to identify and predict potential disease and pest risks.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Real-Time Agricultural Dashboard</a:t>
            </a:r>
            <a:r>
              <a:rPr lang="en-IN" sz="2000" dirty="0"/>
              <a:t> – Build an interactive dashboard for farmers and agricultural stakeholders to monitor seasonal performance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329309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2D6E-D370-186E-09E5-988E1086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3B14FC-690D-1FD4-3639-0FEDEEFFF287}"/>
              </a:ext>
            </a:extLst>
          </p:cNvPr>
          <p:cNvSpPr txBox="1"/>
          <p:nvPr/>
        </p:nvSpPr>
        <p:spPr>
          <a:xfrm>
            <a:off x="557752" y="847642"/>
            <a:ext cx="6105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 GITHUB LINK</a:t>
            </a:r>
            <a:endParaRPr lang="en-IN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08DC5-8EA1-7BEE-D7DC-8D495F2BE3C7}"/>
              </a:ext>
            </a:extLst>
          </p:cNvPr>
          <p:cNvSpPr txBox="1"/>
          <p:nvPr/>
        </p:nvSpPr>
        <p:spPr>
          <a:xfrm>
            <a:off x="1630391" y="2959596"/>
            <a:ext cx="7875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hlinkClick r:id="rId2"/>
              </a:rPr>
              <a:t>https://github.com/Rifacspu2004/VOIS-Major-Project--Agriculture-Analysis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D20CB-0133-31CD-ED1F-3C9177FC3EDB}"/>
              </a:ext>
            </a:extLst>
          </p:cNvPr>
          <p:cNvSpPr txBox="1"/>
          <p:nvPr/>
        </p:nvSpPr>
        <p:spPr>
          <a:xfrm>
            <a:off x="5568350" y="5902548"/>
            <a:ext cx="610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Use </a:t>
            </a:r>
            <a:r>
              <a:rPr lang="en-US" sz="2400" dirty="0" err="1"/>
              <a:t>ctrl+click</a:t>
            </a:r>
            <a:r>
              <a:rPr lang="en-US" sz="2400" dirty="0"/>
              <a:t> for link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7473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4078" y="667742"/>
            <a:ext cx="11340000" cy="7001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sz="3200" b="1" dirty="0"/>
              <a:t>Code Execution &amp; Data Sets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8635" y="6086475"/>
            <a:ext cx="2139695" cy="775970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6572506" y="6355975"/>
            <a:ext cx="2596574" cy="385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Use </a:t>
            </a:r>
            <a:r>
              <a:rPr lang="en-US" sz="2400" dirty="0" err="1"/>
              <a:t>ctrl+click</a:t>
            </a:r>
            <a:r>
              <a:rPr lang="en-US" sz="2400" dirty="0"/>
              <a:t> for link</a:t>
            </a: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1059AA-695F-4254-E3EB-90E7FB88F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025" y="3847976"/>
            <a:ext cx="1727200" cy="3010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696715-F50F-F89C-0DEF-4F053A4656F5}"/>
              </a:ext>
            </a:extLst>
          </p:cNvPr>
          <p:cNvSpPr txBox="1"/>
          <p:nvPr/>
        </p:nvSpPr>
        <p:spPr>
          <a:xfrm>
            <a:off x="1739225" y="1934005"/>
            <a:ext cx="82334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Dataset:    </a:t>
            </a:r>
            <a:r>
              <a:rPr lang="en-IN" dirty="0" err="1"/>
              <a:t>Seasonal_agriculture_performance_dataset</a:t>
            </a:r>
            <a:endParaRPr lang="en-IN" dirty="0"/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Notebook: </a:t>
            </a:r>
            <a:r>
              <a:rPr lang="en-IN" dirty="0"/>
              <a:t>Jupyter Notebook / Google </a:t>
            </a:r>
            <a:r>
              <a:rPr lang="en-IN" dirty="0" err="1"/>
              <a:t>Colab</a:t>
            </a:r>
            <a:endParaRPr lang="en-IN" dirty="0"/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Programming: </a:t>
            </a:r>
            <a:r>
              <a:rPr lang="en-IN" dirty="0"/>
              <a:t>Python-based data cleaning, feature engineering and exploratory data analysis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Repository: </a:t>
            </a:r>
            <a:r>
              <a:rPr lang="en-IN" b="1" dirty="0">
                <a:hlinkClick r:id="rId4"/>
              </a:rPr>
              <a:t>https://github.com/Rifacspu2004/VOIS-Major-Project--Agriculture-Analysis</a:t>
            </a:r>
            <a:endParaRPr lang="en-IN" dirty="0"/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Project Files Include: </a:t>
            </a:r>
            <a:r>
              <a:rPr lang="en-IN" dirty="0"/>
              <a:t>Dataset • Executed Jupyter Notebook </a:t>
            </a:r>
          </a:p>
          <a:p>
            <a:pPr algn="l">
              <a:spcAft>
                <a:spcPts val="800"/>
              </a:spcAft>
            </a:pPr>
            <a:r>
              <a:rPr lang="en-IN" dirty="0"/>
              <a:t>    • Analysis Code • Visualizations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Note: </a:t>
            </a:r>
            <a:r>
              <a:rPr lang="en-IN" dirty="0"/>
              <a:t>The notebook contains the complete execution workflow used to generate the analysis and visualizations presented in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351122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8942" y="751562"/>
            <a:ext cx="11340000" cy="7001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sz="3200" b="1" dirty="0"/>
              <a:t>References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EB3C2D-82B6-3094-1904-C29E5875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946" y="3136108"/>
            <a:ext cx="2760758" cy="3264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076171-190B-6ACA-7843-6ED9422886A1}"/>
              </a:ext>
            </a:extLst>
          </p:cNvPr>
          <p:cNvSpPr txBox="1"/>
          <p:nvPr/>
        </p:nvSpPr>
        <p:spPr>
          <a:xfrm>
            <a:off x="1180930" y="1645779"/>
            <a:ext cx="7367016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Seasonal Agriculture Performance Dataset </a:t>
            </a:r>
            <a:r>
              <a:rPr lang="en-IN" sz="2000" dirty="0"/>
              <a:t>— dataset used   for the VOIS AICTE Major Project analysis.</a:t>
            </a:r>
            <a:endParaRPr lang="en-IN" sz="2000" b="1" dirty="0"/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 Python Documentation — </a:t>
            </a:r>
            <a:r>
              <a:rPr lang="en-IN" sz="2000" dirty="0"/>
              <a:t>programming language and analysis reference.</a:t>
            </a:r>
          </a:p>
          <a:p>
            <a:pPr marL="342900" indent="-342900" algn="l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 Pandas Documentation — </a:t>
            </a:r>
            <a:r>
              <a:rPr lang="en-IN" sz="2000" dirty="0"/>
              <a:t>data manipulation and exploratory    analysis reference.</a:t>
            </a:r>
          </a:p>
          <a:p>
            <a:pPr marL="342900" indent="-342900" algn="l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 NumPy Documentation — </a:t>
            </a:r>
            <a:r>
              <a:rPr lang="en-IN" sz="2000" dirty="0"/>
              <a:t>numerical operations reference.</a:t>
            </a:r>
          </a:p>
          <a:p>
            <a:pPr marL="342900" indent="-342900" algn="l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 Matplotlib Documentation — </a:t>
            </a:r>
            <a:r>
              <a:rPr lang="en-IN" sz="2000" dirty="0"/>
              <a:t>plotting and visualization reference.</a:t>
            </a:r>
          </a:p>
          <a:p>
            <a:pPr marL="342900" indent="-342900" algn="l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 Seaborn Documentation — </a:t>
            </a:r>
            <a:r>
              <a:rPr lang="en-IN" sz="2000" dirty="0"/>
              <a:t>statistical visualization reference.</a:t>
            </a:r>
          </a:p>
          <a:p>
            <a:pPr marL="342900" indent="-342900" algn="l">
              <a:spcAft>
                <a:spcPts val="700"/>
              </a:spcAft>
              <a:buFont typeface="+mj-lt"/>
              <a:buAutoNum type="arabicPeriod"/>
            </a:pPr>
            <a:r>
              <a:rPr lang="en-IN" sz="2000" b="1" dirty="0"/>
              <a:t> Jupyter Notebook / Google </a:t>
            </a:r>
            <a:r>
              <a:rPr lang="en-IN" sz="2000" b="1" dirty="0" err="1"/>
              <a:t>Colab</a:t>
            </a:r>
            <a:r>
              <a:rPr lang="en-IN" sz="2000" b="1" dirty="0"/>
              <a:t> — </a:t>
            </a:r>
            <a:r>
              <a:rPr lang="en-IN" sz="2000" dirty="0"/>
              <a:t>execution and documentation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3" grpId="0"/>
      <p:bldP spid="30" grpId="0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4100" y="193040"/>
            <a:ext cx="11340000" cy="7001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b="1" dirty="0"/>
              <a:t>Conclusion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121BC2-6DD5-5246-BA0F-13698F96FE8B}"/>
              </a:ext>
            </a:extLst>
          </p:cNvPr>
          <p:cNvSpPr txBox="1"/>
          <p:nvPr/>
        </p:nvSpPr>
        <p:spPr>
          <a:xfrm>
            <a:off x="1518569" y="1264828"/>
            <a:ext cx="766987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Seasonal Performance Comparison</a:t>
            </a:r>
            <a:r>
              <a:rPr lang="en-IN" sz="2000" dirty="0"/>
              <a:t> – Analysed how agricultural performance varies across Kharif, Rabi and Zaid seasons.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Crop Performance Analysis</a:t>
            </a:r>
            <a:r>
              <a:rPr lang="en-IN" sz="2000" dirty="0"/>
              <a:t> – Compared crop-wise yield, production and profitability to identify performance patterns.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Environmental Impact Analysis</a:t>
            </a:r>
            <a:r>
              <a:rPr lang="en-IN" sz="2000" dirty="0"/>
              <a:t> – Examined relationships between rainfall, temperature, humidity and crop yield.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Soil &amp; Input Analysis</a:t>
            </a:r>
            <a:r>
              <a:rPr lang="en-IN" sz="2000" dirty="0"/>
              <a:t> – Studied the influence of soil conditions, fertilizer, pesticide and seed quality on agricultural outcomes.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Resource Efficiency Analysis</a:t>
            </a:r>
            <a:r>
              <a:rPr lang="en-IN" sz="2000" dirty="0"/>
              <a:t> – Compared irrigation methods, water usage and water efficiency across agricultural activities.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Economic &amp; Risk Analysis</a:t>
            </a:r>
            <a:r>
              <a:rPr lang="en-IN" sz="2000" dirty="0"/>
              <a:t> – Evaluated market price, cost, revenue, profit and disease/pest risk to understand overall performance.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Data-Driven Insights</a:t>
            </a:r>
            <a:r>
              <a:rPr lang="en-IN" sz="2000" dirty="0"/>
              <a:t> – Identified meaningful seasonal patterns and relationships that can support better agricultural planning and resource management.</a:t>
            </a:r>
          </a:p>
          <a:p>
            <a:pPr algn="l">
              <a:spcAft>
                <a:spcPts val="1000"/>
              </a:spcAft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1834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" y="1524000"/>
            <a:ext cx="10065704" cy="42265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sz="6000" b="1" dirty="0"/>
              <a:t>Thank</a:t>
            </a:r>
            <a:br>
              <a:rPr sz="6000" dirty="0"/>
            </a:br>
            <a:r>
              <a:rPr lang="en-US" sz="6000" dirty="0"/>
              <a:t>      </a:t>
            </a:r>
            <a:r>
              <a:rPr lang="en-US" sz="6000" b="1" dirty="0"/>
              <a:t>Y</a:t>
            </a:r>
            <a:r>
              <a:rPr sz="6000" b="1" dirty="0"/>
              <a:t>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09CBFC-0568-3646-A309-9B3665A1C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11" y="294007"/>
            <a:ext cx="2760758" cy="3264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F50CFB-5533-EA02-04E6-17558BEB7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59231" y="3558416"/>
            <a:ext cx="1727200" cy="301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1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1165</TotalTime>
  <Words>1197</Words>
  <Application>Microsoft Office PowerPoint</Application>
  <PresentationFormat>Widescreen</PresentationFormat>
  <Paragraphs>123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PROBLEM  STATEMENT</vt:lpstr>
      <vt:lpstr>Project Description</vt:lpstr>
      <vt:lpstr>Objectives</vt:lpstr>
      <vt:lpstr>Methodology</vt:lpstr>
      <vt:lpstr>WHO ARE THE END USERS?</vt:lpstr>
      <vt:lpstr>Technology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Execution &amp; Data Sets</vt:lpstr>
      <vt:lpstr>References</vt:lpstr>
      <vt:lpstr>Conclusion</vt:lpstr>
      <vt:lpstr>Thank    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Fazil Mohamed</cp:lastModifiedBy>
  <cp:revision>83</cp:revision>
  <dcterms:created xsi:type="dcterms:W3CDTF">2021-07-11T13:13:15Z</dcterms:created>
  <dcterms:modified xsi:type="dcterms:W3CDTF">2026-09-06T19:54:31Z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